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d09f4a9-4ae3-a20b-2f5c-e1cd91ccb090}">
          <p14:sldIdLst>
            <p14:sldId id="256"/>
            <p14:sldId id="257"/>
          </p14:sldIdLst>
        </p14:section>
        <p14:section name="Method" id="{12d7db54-cea2-d6e3-f6e7-739a561505e7}">
          <p14:sldIdLst>
            <p14:sldId id="258"/>
            <p14:sldId id="259"/>
          </p14:sldIdLst>
        </p14:section>
        <p14:section name="Results" id="{366ccaee-eb85-4541-a9b8-896009dd26b5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2"/>
                </a:solidFill>
                <a:latin typeface="+mn-lt"/>
              </a:rPr>
              <a:t>F1 score by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1F7F4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Metal</c:v>
                  </c:pt>
                  <c:pt idx="3">
                    <c:v>Paper</c:v>
                  </c:pt>
                  <c:pt idx="4">
                    <c:v>Plastic</c:v>
                  </c:pt>
                  <c:pt idx="5">
                    <c:v>Trash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83.5</c:v>
                </c:pt>
                <c:pt idx="1">
                  <c:v>82.2</c:v>
                </c:pt>
                <c:pt idx="2">
                  <c:v>87.5</c:v>
                </c:pt>
                <c:pt idx="3">
                  <c:v>87.1</c:v>
                </c:pt>
                <c:pt idx="4">
                  <c:v>83.4</c:v>
                </c:pt>
                <c:pt idx="5">
                  <c:v>80.5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SmartWaste identifies the material of a waste item from a photo and explains how to dispose of it. Everything runs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 for the user: upload, see the predicted class with confidences, read disposal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matches the training pipeline exactly, so browser predictions match the Keras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TrashNet gives clean single-object photos; RealWaste adds cluttered, real-world photos. The split is stratified with a fixed seed and checked for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Evaluated once on the held-out test set. Accuracy is similar on both sources: 83.9% on TrashNet images and 84.8% on RealWaste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model is a six-class classifier and can be confidently wrong on cluttered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martwaste-cv.vercel.app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home/user/Smart-Waste-Management-Classifier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" cy="548640"/>
          </a:xfrm>
          <a:prstGeom prst="rect">
            <a:avLst/>
          </a:prstGeom>
        </p:spPr>
      </p:pic>
      <p:sp>
        <p:nvSpPr>
          <p:cNvPr id="3" name="Deck title"/>
          <p:cNvSpPr txBox="1"/>
          <p:nvPr/>
        </p:nvSpPr>
        <p:spPr>
          <a:xfrm>
            <a:off x="457200" y="1371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SmartWaste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2377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AI waste classification that runs entirely in your browser</a:t>
            </a:r>
            <a:endParaRPr lang="en-US" sz="2000" dirty="0"/>
          </a:p>
        </p:txBody>
      </p:sp>
      <p:sp>
        <p:nvSpPr>
          <p:cNvPr id="5" name="Tech line"/>
          <p:cNvSpPr txBox="1"/>
          <p:nvPr/>
        </p:nvSpPr>
        <p:spPr>
          <a:xfrm>
            <a:off x="45720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MobileNetV2 · ONNX Runtime Web · Next.js</a:t>
            </a:r>
            <a:endParaRPr lang="en-US" sz="1400" dirty="0"/>
          </a:p>
        </p:txBody>
      </p:sp>
      <p:pic>
        <p:nvPicPr>
          <p:cNvPr id="6" name="Home screenshot" descr="/home/user/Smart-Waste-Management-Classifier/docs/screenshot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840480" cy="22936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it does</a:t>
            </a:r>
            <a:endParaRPr lang="en-US" sz="3600" dirty="0"/>
          </a:p>
        </p:txBody>
      </p:sp>
      <p:sp>
        <p:nvSpPr>
          <p:cNvPr id="3" name="Icon circle 1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27048"/>
            <a:ext cx="283464" cy="283464"/>
          </a:xfrm>
          <a:prstGeom prst="rect">
            <a:avLst/>
          </a:prstGeom>
        </p:spPr>
      </p:pic>
      <p:sp>
        <p:nvSpPr>
          <p:cNvPr id="5" name="Row title 1"/>
          <p:cNvSpPr txBox="1"/>
          <p:nvPr/>
        </p:nvSpPr>
        <p:spPr>
          <a:xfrm>
            <a:off x="12344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Upload a photo</a:t>
            </a:r>
            <a:endParaRPr lang="en-US" sz="1800" dirty="0"/>
          </a:p>
        </p:txBody>
      </p:sp>
      <p:sp>
        <p:nvSpPr>
          <p:cNvPr id="6" name="Row text 1"/>
          <p:cNvSpPr txBox="1"/>
          <p:nvPr/>
        </p:nvSpPr>
        <p:spPr>
          <a:xfrm>
            <a:off x="123444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JPG, PNG or WEBP, up to 20 MB</a:t>
            </a:r>
            <a:endParaRPr lang="en-US" sz="1400" dirty="0"/>
          </a:p>
        </p:txBody>
      </p:sp>
      <p:sp>
        <p:nvSpPr>
          <p:cNvPr id="7" name="Icon circle 2"/>
          <p:cNvSpPr/>
          <p:nvPr/>
        </p:nvSpPr>
        <p:spPr>
          <a:xfrm>
            <a:off x="457200" y="2468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24328"/>
            <a:ext cx="283464" cy="283464"/>
          </a:xfrm>
          <a:prstGeom prst="rect">
            <a:avLst/>
          </a:prstGeom>
        </p:spPr>
      </p:pic>
      <p:sp>
        <p:nvSpPr>
          <p:cNvPr id="9" name="Row title 2"/>
          <p:cNvSpPr txBox="1"/>
          <p:nvPr/>
        </p:nvSpPr>
        <p:spPr>
          <a:xfrm>
            <a:off x="12344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Get a prediction</a:t>
            </a:r>
            <a:endParaRPr lang="en-US" sz="1800" dirty="0"/>
          </a:p>
        </p:txBody>
      </p:sp>
      <p:sp>
        <p:nvSpPr>
          <p:cNvPr id="10" name="Row text 2"/>
          <p:cNvSpPr txBox="1"/>
          <p:nvPr/>
        </p:nvSpPr>
        <p:spPr>
          <a:xfrm>
            <a:off x="123444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Cardboard, glass, metal, paper, plastic or trash, with a confidence score for each</a:t>
            </a:r>
            <a:endParaRPr lang="en-US" sz="1400" dirty="0"/>
          </a:p>
        </p:txBody>
      </p:sp>
      <p:sp>
        <p:nvSpPr>
          <p:cNvPr id="11" name="Icon circle 3"/>
          <p:cNvSpPr/>
          <p:nvPr/>
        </p:nvSpPr>
        <p:spPr>
          <a:xfrm>
            <a:off x="457200" y="3566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21608"/>
            <a:ext cx="283464" cy="283464"/>
          </a:xfrm>
          <a:prstGeom prst="rect">
            <a:avLst/>
          </a:prstGeom>
        </p:spPr>
      </p:pic>
      <p:sp>
        <p:nvSpPr>
          <p:cNvPr id="13" name="Row title 3"/>
          <p:cNvSpPr txBox="1"/>
          <p:nvPr/>
        </p:nvSpPr>
        <p:spPr>
          <a:xfrm>
            <a:off x="123444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Learn how to dispose</a:t>
            </a:r>
            <a:endParaRPr lang="en-US" sz="1800" dirty="0"/>
          </a:p>
        </p:txBody>
      </p:sp>
      <p:sp>
        <p:nvSpPr>
          <p:cNvPr id="14" name="Row text 3"/>
          <p:cNvSpPr txBox="1"/>
          <p:nvPr/>
        </p:nvSpPr>
        <p:spPr>
          <a:xfrm>
            <a:off x="123444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Recyclability and handling tips for every category</a:t>
            </a:r>
            <a:endParaRPr lang="en-US" sz="1400" dirty="0"/>
          </a:p>
        </p:txBody>
      </p:sp>
      <p:pic>
        <p:nvPicPr>
          <p:cNvPr id="15" name="Classifier screenshot" descr="/home/user/Smart-Waste-Management-Classifier/docs/screenshot-classifi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0160"/>
            <a:ext cx="3931920" cy="290043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716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109728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91640"/>
            <a:ext cx="274320" cy="274320"/>
          </a:xfrm>
          <a:prstGeom prst="rect">
            <a:avLst/>
          </a:prstGeom>
        </p:spPr>
      </p:pic>
      <p:sp>
        <p:nvSpPr>
          <p:cNvPr id="6" name="Step title 1"/>
          <p:cNvSpPr txBox="1"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Upload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59436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picks a photo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590495" y="13716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circle 2"/>
          <p:cNvSpPr/>
          <p:nvPr/>
        </p:nvSpPr>
        <p:spPr>
          <a:xfrm>
            <a:off x="3230575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e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735" y="1691640"/>
            <a:ext cx="274320" cy="274320"/>
          </a:xfrm>
          <a:prstGeom prst="rect">
            <a:avLst/>
          </a:prstGeom>
        </p:spPr>
      </p:pic>
      <p:sp>
        <p:nvSpPr>
          <p:cNvPr id="11" name="Step title 2"/>
          <p:cNvSpPr txBox="1"/>
          <p:nvPr/>
        </p:nvSpPr>
        <p:spPr>
          <a:xfrm>
            <a:off x="2681935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Preprocess</a:t>
            </a:r>
            <a:endParaRPr lang="en-US" sz="1800" dirty="0"/>
          </a:p>
        </p:txBody>
      </p:sp>
      <p:sp>
        <p:nvSpPr>
          <p:cNvPr id="12" name="Step text 2"/>
          <p:cNvSpPr txBox="1"/>
          <p:nvPr/>
        </p:nvSpPr>
        <p:spPr>
          <a:xfrm>
            <a:off x="2727655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Decode and resize to 224×224 RGB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4723790" y="13716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circle 3"/>
          <p:cNvSpPr/>
          <p:nvPr/>
        </p:nvSpPr>
        <p:spPr>
          <a:xfrm>
            <a:off x="536387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e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030" y="1691640"/>
            <a:ext cx="274320" cy="274320"/>
          </a:xfrm>
          <a:prstGeom prst="rect">
            <a:avLst/>
          </a:prstGeom>
        </p:spPr>
      </p:pic>
      <p:sp>
        <p:nvSpPr>
          <p:cNvPr id="16" name="Step title 3"/>
          <p:cNvSpPr txBox="1"/>
          <p:nvPr/>
        </p:nvSpPr>
        <p:spPr>
          <a:xfrm>
            <a:off x="481523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Classify</a:t>
            </a:r>
            <a:endParaRPr lang="en-US" sz="1800" dirty="0"/>
          </a:p>
        </p:txBody>
      </p:sp>
      <p:sp>
        <p:nvSpPr>
          <p:cNvPr id="17" name="Step text 3"/>
          <p:cNvSpPr txBox="1"/>
          <p:nvPr/>
        </p:nvSpPr>
        <p:spPr>
          <a:xfrm>
            <a:off x="486095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MobileNetV2 (ONNX) runs in the browser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6857086" y="13716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circle 4"/>
          <p:cNvSpPr/>
          <p:nvPr/>
        </p:nvSpPr>
        <p:spPr>
          <a:xfrm>
            <a:off x="7497166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tep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326" y="1691640"/>
            <a:ext cx="274320" cy="274320"/>
          </a:xfrm>
          <a:prstGeom prst="rect">
            <a:avLst/>
          </a:prstGeom>
        </p:spPr>
      </p:pic>
      <p:sp>
        <p:nvSpPr>
          <p:cNvPr id="21" name="Step title 4"/>
          <p:cNvSpPr txBox="1"/>
          <p:nvPr/>
        </p:nvSpPr>
        <p:spPr>
          <a:xfrm>
            <a:off x="6948526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</a:t>
            </a:r>
            <a:endParaRPr lang="en-US" sz="1800" dirty="0"/>
          </a:p>
        </p:txBody>
      </p:sp>
      <p:sp>
        <p:nvSpPr>
          <p:cNvPr id="22" name="Step text 4"/>
          <p:cNvSpPr txBox="1"/>
          <p:nvPr/>
        </p:nvSpPr>
        <p:spPr>
          <a:xfrm>
            <a:off x="6994246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Softmax over 6 classes plus guidance</a:t>
            </a:r>
            <a:endParaRPr lang="en-US" sz="1400" dirty="0"/>
          </a:p>
        </p:txBody>
      </p:sp>
      <p:sp>
        <p:nvSpPr>
          <p:cNvPr id="23" name="Privacy banner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Lo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69080"/>
            <a:ext cx="320040" cy="320040"/>
          </a:xfrm>
          <a:prstGeom prst="rect">
            <a:avLst/>
          </a:prstGeom>
        </p:spPr>
      </p:pic>
      <p:sp>
        <p:nvSpPr>
          <p:cNvPr id="25" name="Privacy text"/>
          <p:cNvSpPr txBox="1"/>
          <p:nvPr/>
        </p:nvSpPr>
        <p:spPr>
          <a:xfrm>
            <a:off x="1280160" y="38404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Private by design: images never leave the device. No upload, no server.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and model</a:t>
            </a:r>
            <a:endParaRPr lang="en-US" sz="3600" dirty="0"/>
          </a:p>
        </p:txBody>
      </p:sp>
      <p:sp>
        <p:nvSpPr>
          <p:cNvPr id="3" name="Data card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a heading"/>
          <p:cNvSpPr txBox="1"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Dataset</a:t>
            </a:r>
            <a:endParaRPr lang="en-US" sz="1800" dirty="0"/>
          </a:p>
        </p:txBody>
      </p:sp>
      <p:sp>
        <p:nvSpPr>
          <p:cNvPr id="5" name="Image count"/>
          <p:cNvSpPr txBox="1"/>
          <p:nvPr/>
        </p:nvSpPr>
        <p:spPr>
          <a:xfrm>
            <a:off x="73152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6,111</a:t>
            </a:r>
            <a:endParaRPr lang="en-US" sz="6000" dirty="0"/>
          </a:p>
        </p:txBody>
      </p:sp>
      <p:sp>
        <p:nvSpPr>
          <p:cNvPr id="6" name="Image count label"/>
          <p:cNvSpPr txBox="1"/>
          <p:nvPr/>
        </p:nvSpPr>
        <p:spPr>
          <a:xfrm>
            <a:off x="73152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images from TrashNet and RealWaste</a:t>
            </a:r>
            <a:endParaRPr lang="en-US" sz="1400" dirty="0"/>
          </a:p>
        </p:txBody>
      </p:sp>
      <p:sp>
        <p:nvSpPr>
          <p:cNvPr id="7" name="Mini stat 1"/>
          <p:cNvSpPr txBox="1"/>
          <p:nvPr/>
        </p:nvSpPr>
        <p:spPr>
          <a:xfrm>
            <a:off x="73152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Mini label 1"/>
          <p:cNvSpPr txBox="1"/>
          <p:nvPr/>
        </p:nvSpPr>
        <p:spPr>
          <a:xfrm>
            <a:off x="7315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classes</a:t>
            </a:r>
            <a:endParaRPr lang="en-US" sz="1400" dirty="0"/>
          </a:p>
        </p:txBody>
      </p:sp>
      <p:sp>
        <p:nvSpPr>
          <p:cNvPr id="9" name="Mini stat 2"/>
          <p:cNvSpPr txBox="1"/>
          <p:nvPr/>
        </p:nvSpPr>
        <p:spPr>
          <a:xfrm>
            <a:off x="173736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70/15/15</a:t>
            </a:r>
            <a:endParaRPr lang="en-US" sz="2800" dirty="0"/>
          </a:p>
        </p:txBody>
      </p:sp>
      <p:sp>
        <p:nvSpPr>
          <p:cNvPr id="10" name="Mini label 2"/>
          <p:cNvSpPr txBox="1"/>
          <p:nvPr/>
        </p:nvSpPr>
        <p:spPr>
          <a:xfrm>
            <a:off x="173736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/ val / test split</a:t>
            </a:r>
            <a:endParaRPr lang="en-US" sz="1400" dirty="0"/>
          </a:p>
        </p:txBody>
      </p:sp>
      <p:sp>
        <p:nvSpPr>
          <p:cNvPr id="11" name="Model heading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Transfer learning</a:t>
            </a:r>
            <a:endParaRPr lang="en-US" sz="1800" dirty="0"/>
          </a:p>
        </p:txBody>
      </p:sp>
      <p:sp>
        <p:nvSpPr>
          <p:cNvPr id="12" name="Model bullets"/>
          <p:cNvSpPr txBox="1"/>
          <p:nvPr/>
        </p:nvSpPr>
        <p:spPr>
          <a:xfrm>
            <a:off x="4754880" y="1828800"/>
            <a:ext cx="3931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MobileNetV2 with ImageNet weights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 1: train the new head on a frozen 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 2: fine-tune the top layers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Augmentation, dropout and class weights against overfitting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Exported to ONNX and verified against Keras on all 917 test images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84.4% test accuracy</a:t>
            </a:r>
            <a:endParaRPr lang="en-US" sz="3600" dirty="0"/>
          </a:p>
        </p:txBody>
      </p:sp>
      <p:sp>
        <p:nvSpPr>
          <p:cNvPr id="3" name="F1 stat"/>
          <p:cNvSpPr txBox="1"/>
          <p:nvPr/>
        </p:nvSpPr>
        <p:spPr>
          <a:xfrm>
            <a:off x="457200" y="1280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84.0%</a:t>
            </a:r>
            <a:endParaRPr lang="en-US" sz="5400" dirty="0"/>
          </a:p>
        </p:txBody>
      </p:sp>
      <p:sp>
        <p:nvSpPr>
          <p:cNvPr id="4" name="F1 label"/>
          <p:cNvSpPr txBox="1"/>
          <p:nvPr/>
        </p:nvSpPr>
        <p:spPr>
          <a:xfrm>
            <a:off x="4572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macro F1 on 917 held-out test images</a:t>
            </a:r>
            <a:endParaRPr lang="en-US" sz="1400" dirty="0"/>
          </a:p>
        </p:txBody>
      </p:sp>
      <p:sp>
        <p:nvSpPr>
          <p:cNvPr id="5" name="Insight card"/>
          <p:cNvSpPr/>
          <p:nvPr/>
        </p:nvSpPr>
        <p:spPr>
          <a:xfrm>
            <a:off x="457200" y="292608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sight text"/>
          <p:cNvSpPr txBox="1"/>
          <p:nvPr/>
        </p:nvSpPr>
        <p:spPr>
          <a:xfrm>
            <a:off x="640080" y="30175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two datasets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TrashNet-only model scored 47.0% on RealWaste photos. Combined training reaches 84.8%.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931920" y="123444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Limitations and tech stack</a:t>
            </a:r>
            <a:endParaRPr lang="en-US" sz="3600" dirty="0"/>
          </a:p>
        </p:txBody>
      </p:sp>
      <p:sp>
        <p:nvSpPr>
          <p:cNvPr id="3" name="Limits heading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4" name="Limits bullets"/>
          <p:cNvSpPr txBox="1"/>
          <p:nvPr/>
        </p:nvSpPr>
        <p:spPr>
          <a:xfrm>
            <a:off x="457200" y="173736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six categories: every image is assigned to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Common errors: plastic vs. glass, metal vs. glass, cardboard vs. paper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Clutter, several items or poor light can fool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Disposal rules vary by location</a:t>
            </a:r>
            <a:endParaRPr lang="en-US" sz="1400" dirty="0"/>
          </a:p>
        </p:txBody>
      </p:sp>
      <p:sp>
        <p:nvSpPr>
          <p:cNvPr id="5" name="Stack card"/>
          <p:cNvSpPr/>
          <p:nvPr/>
        </p:nvSpPr>
        <p:spPr>
          <a:xfrm>
            <a:off x="4937760" y="1280160"/>
            <a:ext cx="37490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ck heading"/>
          <p:cNvSpPr txBox="1"/>
          <p:nvPr/>
        </p:nvSpPr>
        <p:spPr>
          <a:xfrm>
            <a:off x="52120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Built with</a:t>
            </a:r>
            <a:endParaRPr lang="en-US" sz="2000" dirty="0"/>
          </a:p>
        </p:txBody>
      </p:sp>
      <p:sp>
        <p:nvSpPr>
          <p:cNvPr id="7" name="Stack bullets"/>
          <p:cNvSpPr txBox="1"/>
          <p:nvPr/>
        </p:nvSpPr>
        <p:spPr>
          <a:xfrm>
            <a:off x="5212080" y="1874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Next.js, React, TypeScript, Tailwind 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TensorFlow / Keras for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ONNX Runtime Web for inference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Vercel for hosting</a:t>
            </a:r>
            <a:endParaRPr lang="en-US" sz="1400" dirty="0"/>
          </a:p>
        </p:txBody>
      </p:sp>
      <p:sp>
        <p:nvSpPr>
          <p:cNvPr id="8" name="Demo label"/>
          <p:cNvSpPr txBox="1"/>
          <p:nvPr/>
        </p:nvSpPr>
        <p:spPr>
          <a:xfrm>
            <a:off x="521208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Live demo</a:t>
            </a:r>
            <a:endParaRPr lang="en-US" sz="1400" dirty="0"/>
          </a:p>
        </p:txBody>
      </p:sp>
      <p:sp>
        <p:nvSpPr>
          <p:cNvPr id="9" name="Demo link">
            <a:hlinkClick r:id="rId1" tooltip=""/>
          </p:cNvPr>
          <p:cNvSpPr txBox="1"/>
          <p:nvPr/>
        </p:nvSpPr>
        <p:spPr>
          <a:xfrm>
            <a:off x="521208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smartwaste-cv.vercel.app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Waste">
  <a:themeElements>
    <a:clrScheme name="SmartWaste">
      <a:dk1>
        <a:srgbClr val="1B2B22"/>
      </a:dk1>
      <a:lt1>
        <a:srgbClr val="FFFFFF"/>
      </a:lt1>
      <a:dk2>
        <a:srgbClr val="14532D"/>
      </a:dk2>
      <a:lt2>
        <a:srgbClr val="F3F4F3"/>
      </a:lt2>
      <a:accent1>
        <a:srgbClr val="1F7F40"/>
      </a:accent1>
      <a:accent2>
        <a:srgbClr val="F2A93B"/>
      </a:accent2>
      <a:accent3>
        <a:srgbClr val="2E8BC0"/>
      </a:accent3>
      <a:accent4>
        <a:srgbClr val="6B7F72"/>
      </a:accent4>
      <a:accent5>
        <a:srgbClr val="D95D39"/>
      </a:accent5>
      <a:accent6>
        <a:srgbClr val="5BAA6B"/>
      </a:accent6>
      <a:hlink>
        <a:srgbClr val="1F7F40"/>
      </a:hlink>
      <a:folHlink>
        <a:srgbClr val="6B7F72"/>
      </a:folHlink>
    </a:clrScheme>
    <a:fontScheme name="SmartWas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SmartWaste: AI Waste Classification</dc:title>
  <dc:subject>PptxGenJS Presentation</dc:subject>
  <dc:creator>PptxGenJS</dc:creator>
  <cp:lastModifiedBy>PptxGenJS</cp:lastModifiedBy>
  <cp:revision>1</cp:revision>
  <dcterms:created xsi:type="dcterms:W3CDTF">2026-10-11T05:09:25Z</dcterms:created>
  <dcterms:modified xsi:type="dcterms:W3CDTF">2026-10-11T05:09:25Z</dcterms:modified>
</cp:coreProperties>
</file>